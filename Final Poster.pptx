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1383625" cy="30545088"/>
  <p:notesSz cx="6858000" cy="9144000"/>
  <p:defaultTextStyle>
    <a:defPPr>
      <a:defRPr lang="en-US"/>
    </a:defPPr>
    <a:lvl1pPr marL="0" algn="l" defTabSz="2119488" rtl="0" eaLnBrk="1" latinLnBrk="0" hangingPunct="1">
      <a:defRPr sz="4172" kern="1200">
        <a:solidFill>
          <a:schemeClr val="tx1"/>
        </a:solidFill>
        <a:latin typeface="+mn-lt"/>
        <a:ea typeface="+mn-ea"/>
        <a:cs typeface="+mn-cs"/>
      </a:defRPr>
    </a:lvl1pPr>
    <a:lvl2pPr marL="1059744" algn="l" defTabSz="2119488" rtl="0" eaLnBrk="1" latinLnBrk="0" hangingPunct="1">
      <a:defRPr sz="4172" kern="1200">
        <a:solidFill>
          <a:schemeClr val="tx1"/>
        </a:solidFill>
        <a:latin typeface="+mn-lt"/>
        <a:ea typeface="+mn-ea"/>
        <a:cs typeface="+mn-cs"/>
      </a:defRPr>
    </a:lvl2pPr>
    <a:lvl3pPr marL="2119488" algn="l" defTabSz="2119488" rtl="0" eaLnBrk="1" latinLnBrk="0" hangingPunct="1">
      <a:defRPr sz="4172" kern="1200">
        <a:solidFill>
          <a:schemeClr val="tx1"/>
        </a:solidFill>
        <a:latin typeface="+mn-lt"/>
        <a:ea typeface="+mn-ea"/>
        <a:cs typeface="+mn-cs"/>
      </a:defRPr>
    </a:lvl3pPr>
    <a:lvl4pPr marL="3179232" algn="l" defTabSz="2119488" rtl="0" eaLnBrk="1" latinLnBrk="0" hangingPunct="1">
      <a:defRPr sz="4172" kern="1200">
        <a:solidFill>
          <a:schemeClr val="tx1"/>
        </a:solidFill>
        <a:latin typeface="+mn-lt"/>
        <a:ea typeface="+mn-ea"/>
        <a:cs typeface="+mn-cs"/>
      </a:defRPr>
    </a:lvl4pPr>
    <a:lvl5pPr marL="4238976" algn="l" defTabSz="2119488" rtl="0" eaLnBrk="1" latinLnBrk="0" hangingPunct="1">
      <a:defRPr sz="4172" kern="1200">
        <a:solidFill>
          <a:schemeClr val="tx1"/>
        </a:solidFill>
        <a:latin typeface="+mn-lt"/>
        <a:ea typeface="+mn-ea"/>
        <a:cs typeface="+mn-cs"/>
      </a:defRPr>
    </a:lvl5pPr>
    <a:lvl6pPr marL="5298719" algn="l" defTabSz="2119488" rtl="0" eaLnBrk="1" latinLnBrk="0" hangingPunct="1">
      <a:defRPr sz="4172" kern="1200">
        <a:solidFill>
          <a:schemeClr val="tx1"/>
        </a:solidFill>
        <a:latin typeface="+mn-lt"/>
        <a:ea typeface="+mn-ea"/>
        <a:cs typeface="+mn-cs"/>
      </a:defRPr>
    </a:lvl6pPr>
    <a:lvl7pPr marL="6358463" algn="l" defTabSz="2119488" rtl="0" eaLnBrk="1" latinLnBrk="0" hangingPunct="1">
      <a:defRPr sz="4172" kern="1200">
        <a:solidFill>
          <a:schemeClr val="tx1"/>
        </a:solidFill>
        <a:latin typeface="+mn-lt"/>
        <a:ea typeface="+mn-ea"/>
        <a:cs typeface="+mn-cs"/>
      </a:defRPr>
    </a:lvl7pPr>
    <a:lvl8pPr marL="7418207" algn="l" defTabSz="2119488" rtl="0" eaLnBrk="1" latinLnBrk="0" hangingPunct="1">
      <a:defRPr sz="4172" kern="1200">
        <a:solidFill>
          <a:schemeClr val="tx1"/>
        </a:solidFill>
        <a:latin typeface="+mn-lt"/>
        <a:ea typeface="+mn-ea"/>
        <a:cs typeface="+mn-cs"/>
      </a:defRPr>
    </a:lvl8pPr>
    <a:lvl9pPr marL="8477951" algn="l" defTabSz="2119488" rtl="0" eaLnBrk="1" latinLnBrk="0" hangingPunct="1">
      <a:defRPr sz="417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25" d="100"/>
          <a:sy n="25" d="100"/>
        </p:scale>
        <p:origin x="18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98932"/>
            <a:ext cx="18176081" cy="10634216"/>
          </a:xfrm>
        </p:spPr>
        <p:txBody>
          <a:bodyPr anchor="b"/>
          <a:lstStyle>
            <a:lvl1pPr algn="ctr">
              <a:defRPr sz="14031"/>
            </a:lvl1pPr>
          </a:lstStyle>
          <a:p>
            <a:r>
              <a:rPr lang="en-US"/>
              <a:t>Click to edit Master title style</a:t>
            </a:r>
            <a:endParaRPr lang="en-US" dirty="0"/>
          </a:p>
        </p:txBody>
      </p:sp>
      <p:sp>
        <p:nvSpPr>
          <p:cNvPr id="3" name="Subtitle 2"/>
          <p:cNvSpPr>
            <a:spLocks noGrp="1"/>
          </p:cNvSpPr>
          <p:nvPr>
            <p:ph type="subTitle" idx="1"/>
          </p:nvPr>
        </p:nvSpPr>
        <p:spPr>
          <a:xfrm>
            <a:off x="2672953" y="16043244"/>
            <a:ext cx="16037719" cy="7374657"/>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21-04-2025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812842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21-04-2025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10081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615069"/>
            <a:ext cx="18443377" cy="12705906"/>
          </a:xfrm>
        </p:spPr>
        <p:txBody>
          <a:bodyPr anchor="b"/>
          <a:lstStyle>
            <a:lvl1pPr>
              <a:defRPr sz="14031"/>
            </a:lvl1pPr>
          </a:lstStyle>
          <a:p>
            <a:r>
              <a:rPr lang="en-US"/>
              <a:t>Click to edit Master title style</a:t>
            </a:r>
            <a:endParaRPr lang="en-US" dirty="0"/>
          </a:p>
        </p:txBody>
      </p:sp>
      <p:sp>
        <p:nvSpPr>
          <p:cNvPr id="3" name="Text Placeholder 2"/>
          <p:cNvSpPr>
            <a:spLocks noGrp="1"/>
          </p:cNvSpPr>
          <p:nvPr>
            <p:ph type="body" idx="1"/>
          </p:nvPr>
        </p:nvSpPr>
        <p:spPr>
          <a:xfrm>
            <a:off x="1458988" y="20441178"/>
            <a:ext cx="18443377" cy="6681736"/>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53E2C6-8CDE-4FA4-9434-0173729C9153}" type="datetimeFigureOut">
              <a:rPr lang="en-IN" smtClean="0"/>
              <a:t>21-04-2025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035159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53E2C6-8CDE-4FA4-9434-0173729C9153}" type="datetimeFigureOut">
              <a:rPr lang="en-IN" smtClean="0"/>
              <a:t>21-04-2025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42816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26250"/>
            <a:ext cx="18443377" cy="59039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2" y="7487791"/>
            <a:ext cx="9046274"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157442"/>
            <a:ext cx="9046274"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1" y="7487791"/>
            <a:ext cx="9090826"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157442"/>
            <a:ext cx="9090826"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53E2C6-8CDE-4FA4-9434-0173729C9153}" type="datetimeFigureOut">
              <a:rPr lang="en-IN" smtClean="0"/>
              <a:t>21-04-2025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5705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53E2C6-8CDE-4FA4-9434-0173729C9153}" type="datetimeFigureOut">
              <a:rPr lang="en-IN" smtClean="0"/>
              <a:t>21-04-2025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126069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3E2C6-8CDE-4FA4-9434-0173729C9153}" type="datetimeFigureOut">
              <a:rPr lang="en-IN" smtClean="0"/>
              <a:t>21-04-2025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2098165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Content Placeholder 2"/>
          <p:cNvSpPr>
            <a:spLocks noGrp="1"/>
          </p:cNvSpPr>
          <p:nvPr>
            <p:ph idx="1"/>
          </p:nvPr>
        </p:nvSpPr>
        <p:spPr>
          <a:xfrm>
            <a:off x="9090826" y="4397934"/>
            <a:ext cx="10825460" cy="21706810"/>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21-04-2025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25937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397934"/>
            <a:ext cx="10825460" cy="21706810"/>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dirty="0"/>
              <a:t>Click icon to add picture</a:t>
            </a:r>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21-04-2025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42848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21-04-2025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9034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26243"/>
            <a:ext cx="4610844" cy="258855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5" y="1626243"/>
            <a:ext cx="13565237" cy="25885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21-04-2025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71007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26250"/>
            <a:ext cx="18443377" cy="59039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131215"/>
            <a:ext cx="18443377" cy="193805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28310778"/>
            <a:ext cx="4811316" cy="1626243"/>
          </a:xfrm>
          <a:prstGeom prst="rect">
            <a:avLst/>
          </a:prstGeom>
        </p:spPr>
        <p:txBody>
          <a:bodyPr vert="horz" lIns="91440" tIns="45720" rIns="91440" bIns="45720" rtlCol="0" anchor="ctr"/>
          <a:lstStyle>
            <a:lvl1pPr algn="l">
              <a:defRPr sz="2806">
                <a:solidFill>
                  <a:schemeClr val="tx1">
                    <a:tint val="75000"/>
                  </a:schemeClr>
                </a:solidFill>
              </a:defRPr>
            </a:lvl1pPr>
          </a:lstStyle>
          <a:p>
            <a:fld id="{8453E2C6-8CDE-4FA4-9434-0173729C9153}" type="datetimeFigureOut">
              <a:rPr lang="en-IN" smtClean="0"/>
              <a:t>21-04-2025</a:t>
            </a:fld>
            <a:endParaRPr lang="en-IN" dirty="0"/>
          </a:p>
        </p:txBody>
      </p:sp>
      <p:sp>
        <p:nvSpPr>
          <p:cNvPr id="5" name="Footer Placeholder 4"/>
          <p:cNvSpPr>
            <a:spLocks noGrp="1"/>
          </p:cNvSpPr>
          <p:nvPr>
            <p:ph type="ftr" sz="quarter" idx="3"/>
          </p:nvPr>
        </p:nvSpPr>
        <p:spPr>
          <a:xfrm>
            <a:off x="7083326" y="28310778"/>
            <a:ext cx="7216973" cy="1626243"/>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5102185" y="28310778"/>
            <a:ext cx="4811316" cy="1626243"/>
          </a:xfrm>
          <a:prstGeom prst="rect">
            <a:avLst/>
          </a:prstGeom>
        </p:spPr>
        <p:txBody>
          <a:bodyPr vert="horz" lIns="91440" tIns="45720" rIns="91440" bIns="45720" rtlCol="0" anchor="ctr"/>
          <a:lstStyle>
            <a:lvl1pPr algn="r">
              <a:defRPr sz="2806">
                <a:solidFill>
                  <a:schemeClr val="tx1">
                    <a:tint val="75000"/>
                  </a:schemeClr>
                </a:solidFill>
              </a:defRPr>
            </a:lvl1pPr>
          </a:lstStyle>
          <a:p>
            <a:fld id="{AA8FA1BF-A921-4444-88C6-9EFD5BFD1773}" type="slidenum">
              <a:rPr lang="en-IN" smtClean="0"/>
              <a:t>‹#›</a:t>
            </a:fld>
            <a:endParaRPr lang="en-IN" dirty="0"/>
          </a:p>
        </p:txBody>
      </p:sp>
    </p:spTree>
    <p:extLst>
      <p:ext uri="{BB962C8B-B14F-4D97-AF65-F5344CB8AC3E}">
        <p14:creationId xmlns:p14="http://schemas.microsoft.com/office/powerpoint/2010/main" val="28736146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9812" y="365760"/>
            <a:ext cx="20664000" cy="29556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itle 3"/>
          <p:cNvSpPr txBox="1">
            <a:spLocks/>
          </p:cNvSpPr>
          <p:nvPr/>
        </p:nvSpPr>
        <p:spPr>
          <a:xfrm>
            <a:off x="2633472" y="365760"/>
            <a:ext cx="18390340" cy="1133856"/>
          </a:xfrm>
          <a:prstGeom prst="rect">
            <a:avLst/>
          </a:prstGeom>
        </p:spPr>
        <p:txBody>
          <a:bodyPr vert="horz" lIns="91440" tIns="45720" rIns="91440" bIns="45720" rtlCol="0" anchor="ctr">
            <a:normAutofit/>
          </a:bodyPr>
          <a:lst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a:lstStyle>
          <a:p>
            <a:pPr algn="ctr"/>
            <a:r>
              <a:rPr lang="en-IN" sz="4800" b="1" dirty="0"/>
              <a:t>XRP CRYPTOCURRENCY RETURN PREDICTION</a:t>
            </a:r>
          </a:p>
        </p:txBody>
      </p:sp>
      <p:sp>
        <p:nvSpPr>
          <p:cNvPr id="7" name="Text Placeholder 22"/>
          <p:cNvSpPr txBox="1">
            <a:spLocks/>
          </p:cNvSpPr>
          <p:nvPr/>
        </p:nvSpPr>
        <p:spPr>
          <a:xfrm>
            <a:off x="2633472" y="1335127"/>
            <a:ext cx="18245328" cy="1402902"/>
          </a:xfrm>
          <a:prstGeom prst="rect">
            <a:avLst/>
          </a:prstGeom>
          <a:noFill/>
        </p:spPr>
        <p:txBody>
          <a:bodyPr/>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lgn="just">
              <a:buNone/>
            </a:pPr>
            <a:r>
              <a:rPr lang="en-US" sz="4400" dirty="0">
                <a:solidFill>
                  <a:srgbClr val="FF0000"/>
                </a:solidFill>
                <a:highlight>
                  <a:srgbClr val="FFFF00"/>
                </a:highlight>
              </a:rPr>
              <a:t>Pranavi Ravi , </a:t>
            </a:r>
            <a:r>
              <a:rPr lang="en-US" sz="4400" dirty="0" err="1">
                <a:solidFill>
                  <a:srgbClr val="FF0000"/>
                </a:solidFill>
                <a:highlight>
                  <a:srgbClr val="FFFF00"/>
                </a:highlight>
              </a:rPr>
              <a:t>Namineni</a:t>
            </a:r>
            <a:r>
              <a:rPr lang="en-US" sz="4400" dirty="0">
                <a:solidFill>
                  <a:srgbClr val="FF0000"/>
                </a:solidFill>
                <a:highlight>
                  <a:srgbClr val="FFFF00"/>
                </a:highlight>
              </a:rPr>
              <a:t> Sai Loukya |</a:t>
            </a:r>
            <a:r>
              <a:rPr lang="en-US" sz="4400" dirty="0"/>
              <a:t> Ramanathan Lakshmanan                              </a:t>
            </a:r>
            <a:r>
              <a:rPr lang="en-US" sz="4400" dirty="0">
                <a:solidFill>
                  <a:srgbClr val="FF0000"/>
                </a:solidFill>
                <a:highlight>
                  <a:srgbClr val="FFFF00"/>
                </a:highlight>
              </a:rPr>
              <a:t>| School of Computer Science and Engineering</a:t>
            </a:r>
          </a:p>
        </p:txBody>
      </p:sp>
      <p:sp>
        <p:nvSpPr>
          <p:cNvPr id="10" name="Content Placeholder 10"/>
          <p:cNvSpPr txBox="1">
            <a:spLocks/>
          </p:cNvSpPr>
          <p:nvPr/>
        </p:nvSpPr>
        <p:spPr>
          <a:xfrm>
            <a:off x="329662" y="11357170"/>
            <a:ext cx="10350000" cy="18564589"/>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sz="2400" dirty="0"/>
              <a:t>The project began with acquiring historical XRP data containing essential fields like Open, High, Low, Last Price, and Volume from a reliable financial source. Data 			reprocessing involved 			handling missing values using 			forward fill for time-			dependent fields and mean 			imputation for numerical 			gaps, ensuring consistency. 			Feature engineering was 			applied to derive more 			informative attributes such as 			the High-Low Price Difference 			and Scaled Percentage 			Change, which helped capture 			market volatility and trends. StandardScaler was then used to normalize the data, enabling fair feature contribution across models, particularly important for SVR.</a:t>
            </a:r>
          </a:p>
          <a:p>
            <a:r>
              <a:rPr lang="en-IN" sz="2400" dirty="0"/>
              <a:t>In the modelling phase, four algorithms were implemented: Linear Regression, SVR, Random Forest, and XGBoost. These ranged from basic linear models to advanced ensemble methods                                                                                               capable of identifying complex                                                                                                patterns. The dataset was split                                                                                              chronologically to preserve                                                                                                     time-series integrity. To ensure                                                                                               model robustness and prevent                                                                                                  overfitting, k-fold cross-                                                                                                     validation was employed.                                                                                                      Hyperparameter tuning via                                                                                                 GridSearchCV and Randomized                                                                                        SearchCV optimized model                                                                                        performance—especially for                                                                                              ensemble models—by fine-                                                                                                tuning parameters for improved accuracy and stability.</a:t>
            </a:r>
            <a:endParaRPr lang="en-US" sz="2400" dirty="0"/>
          </a:p>
          <a:p>
            <a:r>
              <a:rPr lang="en-US" sz="2400" dirty="0"/>
              <a:t>Model evaluation was conducted using key regression metrics: Root Mean Squared Error (RMSE) and R² Score, which measure prediction error, and the proportion of variance explained, respectively. Feature importance was analyzed 			post-training to identify which 			input variables had the 			greatest influence on the 			model’s predictions. This step 			provided insights into market 			behavior and validated the 			relevance of the engineered 			features. Among all the 			models tested, Tuned 			Random Forest and XGBoost 			emerged as the best 			performers, achieving high R² 			values (up to 0.98), indicating 			excellent prediction capability. 			These models were then used 			to make predictions on unseen test data, demonstrating strong potential for real-world application in cryptocurrency return forecasting.</a:t>
            </a:r>
          </a:p>
        </p:txBody>
      </p:sp>
      <p:sp>
        <p:nvSpPr>
          <p:cNvPr id="11" name="Text Placeholder 68"/>
          <p:cNvSpPr txBox="1">
            <a:spLocks/>
          </p:cNvSpPr>
          <p:nvPr/>
        </p:nvSpPr>
        <p:spPr>
          <a:xfrm>
            <a:off x="10692147" y="3095035"/>
            <a:ext cx="10344150" cy="12948486"/>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pPr>
              <a:buNone/>
            </a:pPr>
            <a:r>
              <a:rPr lang="en-US" dirty="0"/>
              <a:t>After training and evaluating all models, the results clearly demonstrated that ensemble learning methods outperformed traditional regression techniques. The Tuned Random Forest Regressor                                                                                          achieved the highest performance,                                                                                         with an R² score of 0.98 and low                                                                                     RMSE, indicating an excellent fit                                                                                                 and strong predictive power. The                                                                                             XGBoost Regressor followed closely                                                                                         with an R² score of 0.97, making it                                                                                        another highly reliable model for                                                                                   forecasting XRP returns. These                                                                                                  models were particularly effective                                                                                        due to their ability to capture non-			                          linear patterns and handle noisy                                                                                           financial data. In contrast, Linear Regression and Support Vector Regression (SVR) models showed comparatively lower performance, with R² scores below 0.90. This is likely due to their limited ability to adapt to the volatility and complex structure inherent in cryptocurrency price movements. Hyperparameter tuning and feature engineering significantly enhanced the performance of all models, especially the ensemble-based ones.</a:t>
            </a:r>
          </a:p>
          <a:p>
            <a:pPr>
              <a:buNone/>
            </a:pPr>
            <a:r>
              <a:rPr lang="en-US" dirty="0"/>
              <a:t>A feature importance analysis was conducted using the trained Random Forest and XGBoost models. This analysis revealed that variables such as the high-low 			price difference, percentage 			change, and trading volume 			had the greatest influence on 			return prediction. These 			findings validated our feature 			engineering choices and also 			aligned well with financial 			domain knowledge. The final 			predictions from the best-			performing models closely 			matched actual XRP prices, as 			visualized in the “Actual vs 			Predicted” graphs. This demonstrated that the models not only fit the training data well but also generalized effectively to unseen test data, highlighting their robustness and real-world applicability in financial forecasting.</a:t>
            </a:r>
          </a:p>
          <a:p>
            <a:endParaRPr lang="en-IN" dirty="0"/>
          </a:p>
        </p:txBody>
      </p:sp>
      <p:sp>
        <p:nvSpPr>
          <p:cNvPr id="3" name="Rectangle 2"/>
          <p:cNvSpPr/>
          <p:nvPr/>
        </p:nvSpPr>
        <p:spPr>
          <a:xfrm>
            <a:off x="372297" y="7948288"/>
            <a:ext cx="3950056" cy="646331"/>
          </a:xfrm>
          <a:prstGeom prst="rect">
            <a:avLst/>
          </a:prstGeom>
        </p:spPr>
        <p:txBody>
          <a:bodyPr wrap="none">
            <a:spAutoFit/>
          </a:bodyPr>
          <a:lstStyle/>
          <a:p>
            <a:pPr algn="ctr"/>
            <a:r>
              <a:rPr lang="en-US" sz="3600" dirty="0">
                <a:solidFill>
                  <a:srgbClr val="FF0000"/>
                </a:solidFill>
                <a:highlight>
                  <a:srgbClr val="FFFF00"/>
                </a:highlight>
              </a:rPr>
              <a:t>Scope </a:t>
            </a:r>
            <a:r>
              <a:rPr lang="en-US" sz="3600" dirty="0"/>
              <a:t>of the Project</a:t>
            </a:r>
          </a:p>
        </p:txBody>
      </p:sp>
      <p:sp>
        <p:nvSpPr>
          <p:cNvPr id="12" name="Rectangle 11"/>
          <p:cNvSpPr/>
          <p:nvPr/>
        </p:nvSpPr>
        <p:spPr>
          <a:xfrm>
            <a:off x="10655812" y="2481980"/>
            <a:ext cx="1519840" cy="646331"/>
          </a:xfrm>
          <a:prstGeom prst="rect">
            <a:avLst/>
          </a:prstGeom>
        </p:spPr>
        <p:txBody>
          <a:bodyPr wrap="none">
            <a:spAutoFit/>
          </a:bodyPr>
          <a:lstStyle/>
          <a:p>
            <a:pPr algn="ctr"/>
            <a:r>
              <a:rPr lang="en-US" sz="3600" dirty="0"/>
              <a:t>Results</a:t>
            </a:r>
          </a:p>
        </p:txBody>
      </p:sp>
      <p:sp>
        <p:nvSpPr>
          <p:cNvPr id="13" name="Rectangle 12"/>
          <p:cNvSpPr/>
          <p:nvPr/>
        </p:nvSpPr>
        <p:spPr>
          <a:xfrm>
            <a:off x="372297" y="10674453"/>
            <a:ext cx="2706895" cy="646331"/>
          </a:xfrm>
          <a:prstGeom prst="rect">
            <a:avLst/>
          </a:prstGeom>
        </p:spPr>
        <p:txBody>
          <a:bodyPr wrap="none">
            <a:spAutoFit/>
          </a:bodyPr>
          <a:lstStyle/>
          <a:p>
            <a:r>
              <a:rPr lang="en-US" altLang="zh-CN" sz="3600" dirty="0"/>
              <a:t>Methodology</a:t>
            </a:r>
          </a:p>
        </p:txBody>
      </p:sp>
      <p:sp>
        <p:nvSpPr>
          <p:cNvPr id="14" name="Content Placeholder 10"/>
          <p:cNvSpPr txBox="1">
            <a:spLocks/>
          </p:cNvSpPr>
          <p:nvPr/>
        </p:nvSpPr>
        <p:spPr>
          <a:xfrm>
            <a:off x="341812" y="8594620"/>
            <a:ext cx="10350000" cy="2099006"/>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sz="2400" dirty="0"/>
              <a:t>This project aims to predict XRP cryptocurrency returns using machine learning techniques. It involves collecting and preprocessing historical price data, training models such as XGBoost, Random Forest, SVR, and Linear Regression, and evaluating their performance. The goal is to identify key factors influencing XRP trends and develop a reliable prediction system to assist traders and investors in making informed decisions in a highly volatile market.</a:t>
            </a:r>
            <a:endParaRPr lang="en-US" sz="4400" dirty="0"/>
          </a:p>
        </p:txBody>
      </p:sp>
      <p:sp>
        <p:nvSpPr>
          <p:cNvPr id="21" name="Text Placeholder 68"/>
          <p:cNvSpPr txBox="1">
            <a:spLocks/>
          </p:cNvSpPr>
          <p:nvPr/>
        </p:nvSpPr>
        <p:spPr>
          <a:xfrm>
            <a:off x="359812" y="3092215"/>
            <a:ext cx="10350000" cy="2099007"/>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pPr>
              <a:buNone/>
            </a:pPr>
            <a:r>
              <a:rPr lang="en-US" dirty="0"/>
              <a:t>XRP’s high volatility makes return prediction challenging. This study uses ML models—XGBoost, Random Forest, SVR, and Linear Regression—to predict XRP returns, with XGBoost and Random Forest showing the best performance .While past studies used models like LSTM and GRU, they often lacked key factors, faced overfitting, and used limited data. This study addresses these gaps with a more robust and optimized approach.</a:t>
            </a:r>
          </a:p>
          <a:p>
            <a:endParaRPr lang="en-IN" dirty="0"/>
          </a:p>
        </p:txBody>
      </p:sp>
      <p:sp>
        <p:nvSpPr>
          <p:cNvPr id="22" name="Rectangle 21"/>
          <p:cNvSpPr/>
          <p:nvPr/>
        </p:nvSpPr>
        <p:spPr>
          <a:xfrm>
            <a:off x="415049" y="2481980"/>
            <a:ext cx="2514919" cy="646331"/>
          </a:xfrm>
          <a:prstGeom prst="rect">
            <a:avLst/>
          </a:prstGeom>
        </p:spPr>
        <p:txBody>
          <a:bodyPr wrap="none">
            <a:spAutoFit/>
          </a:bodyPr>
          <a:lstStyle/>
          <a:p>
            <a:pPr algn="ctr"/>
            <a:r>
              <a:rPr lang="en-US" sz="3600" dirty="0"/>
              <a:t>Introduction</a:t>
            </a:r>
          </a:p>
        </p:txBody>
      </p:sp>
      <p:sp>
        <p:nvSpPr>
          <p:cNvPr id="27" name="Text Placeholder 68"/>
          <p:cNvSpPr txBox="1">
            <a:spLocks/>
          </p:cNvSpPr>
          <p:nvPr/>
        </p:nvSpPr>
        <p:spPr>
          <a:xfrm>
            <a:off x="10664694" y="21374687"/>
            <a:ext cx="10350000" cy="4620328"/>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This project successfully demonstrated the use of machine learning models—particularly Tuned Random Forest and XGBoost—for predicting short-term XRP cryptocurrency returns with high accuracy (R² ≈ 0.97–0.98). The use of technical indicators, robust feature engineering, and hyperparameter tuning allowed these ensemble models to outperform traditional approaches. The results validate the potential of ML in capturing the non-linear dynamics of volatile financial markets and offer valuable tools for informed investment decision-making.</a:t>
            </a:r>
          </a:p>
          <a:p>
            <a:r>
              <a:rPr lang="en-US" dirty="0"/>
              <a:t>Future enhancements will involve using deep learning models like LSTM for better time-series forecasting and incorporating sentiment analysis from news and social media to capture market trends. Adding macroeconomic indicators and real-time data streams can further improve prediction accuracy. Lastly, implementing explainable AI techniques will enhance model transparency and trust for financial decision-making.</a:t>
            </a:r>
            <a:endParaRPr lang="en-IN" dirty="0"/>
          </a:p>
        </p:txBody>
      </p:sp>
      <p:sp>
        <p:nvSpPr>
          <p:cNvPr id="28" name="Rectangle 27"/>
          <p:cNvSpPr/>
          <p:nvPr/>
        </p:nvSpPr>
        <p:spPr>
          <a:xfrm>
            <a:off x="10643650" y="26543038"/>
            <a:ext cx="10362150" cy="3416320"/>
          </a:xfrm>
          <a:prstGeom prst="rect">
            <a:avLst/>
          </a:prstGeom>
        </p:spPr>
        <p:txBody>
          <a:bodyPr wrap="square">
            <a:spAutoFit/>
          </a:bodyPr>
          <a:lstStyle/>
          <a:p>
            <a:pPr marL="228600" indent="-228600">
              <a:buAutoNum type="arabicPeriod"/>
            </a:pPr>
            <a:r>
              <a:rPr lang="en-US" sz="2400" dirty="0"/>
              <a:t>.</a:t>
            </a:r>
            <a:r>
              <a:rPr lang="en-US" sz="2400" dirty="0">
                <a:latin typeface="Times New Roman" panose="02020603050405020304" pitchFamily="18" charset="0"/>
                <a:cs typeface="Times New Roman" panose="02020603050405020304" pitchFamily="18" charset="0"/>
              </a:rPr>
              <a:t> Huang, J. Z., Huang, W., &amp; Ni, J. (2019). Predicting bitcoin returns using high-dimensional technical indicators. The Journal of Finance and Data Science, 5(3), 140-155. </a:t>
            </a:r>
          </a:p>
          <a:p>
            <a:pPr marL="228600" indent="-228600">
              <a:buAutoNum type="arabicPeriod"/>
            </a:pPr>
            <a:r>
              <a:rPr lang="en-US" sz="2400" dirty="0">
                <a:latin typeface="Times New Roman" panose="02020603050405020304" pitchFamily="18" charset="0"/>
                <a:cs typeface="Times New Roman" panose="02020603050405020304" pitchFamily="18" charset="0"/>
              </a:rPr>
              <a:t>Ahmad, T., &amp; Abbas, M. (2024). AI Based Cryptocurrency Price Prediction: A Comparative Analysis of Traditional &amp; Deep Learning Models with Sentiment Integration (Master's thesis, UIS). </a:t>
            </a:r>
          </a:p>
          <a:p>
            <a:pPr marL="228600" indent="-228600">
              <a:buAutoNum type="arabicPeriod"/>
            </a:pPr>
            <a:r>
              <a:rPr lang="en-US" sz="2400" dirty="0">
                <a:latin typeface="Times New Roman" panose="02020603050405020304" pitchFamily="18" charset="0"/>
                <a:cs typeface="Times New Roman" panose="02020603050405020304" pitchFamily="18" charset="0"/>
              </a:rPr>
              <a:t>Khan, F. U., Khan, F., &amp; Shaikh, P. A. (2023). Forecasting returns volatility of cryptocurrency by applying various deep learning algorithms. Future Business Journal, 9(1), 25. </a:t>
            </a:r>
          </a:p>
        </p:txBody>
      </p:sp>
      <p:sp>
        <p:nvSpPr>
          <p:cNvPr id="29" name="Rectangle 28"/>
          <p:cNvSpPr/>
          <p:nvPr/>
        </p:nvSpPr>
        <p:spPr>
          <a:xfrm>
            <a:off x="10758165" y="20822053"/>
            <a:ext cx="2233304" cy="646331"/>
          </a:xfrm>
          <a:prstGeom prst="rect">
            <a:avLst/>
          </a:prstGeom>
        </p:spPr>
        <p:txBody>
          <a:bodyPr wrap="none">
            <a:spAutoFit/>
          </a:bodyPr>
          <a:lstStyle/>
          <a:p>
            <a:pPr algn="ctr"/>
            <a:r>
              <a:rPr lang="en-US" sz="3600" dirty="0"/>
              <a:t>Conclusion</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402" y="419068"/>
            <a:ext cx="2142948" cy="2069595"/>
          </a:xfrm>
          <a:prstGeom prst="rect">
            <a:avLst/>
          </a:prstGeom>
        </p:spPr>
      </p:pic>
      <p:sp>
        <p:nvSpPr>
          <p:cNvPr id="24" name="Text Placeholder 68"/>
          <p:cNvSpPr txBox="1">
            <a:spLocks/>
          </p:cNvSpPr>
          <p:nvPr/>
        </p:nvSpPr>
        <p:spPr>
          <a:xfrm>
            <a:off x="372297" y="5818380"/>
            <a:ext cx="10350000" cy="2099006"/>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The volatile nature of cryptocurrency markets, especially XRP, makes return prediction highly challenging yet crucial for informed investment decisions. Traditional models often fail to capture complex patterns and external influences. This motivated us to explore machine learning techniques that can offer more accurate, scalable, and data-driven predictions to support better financial decision-making in the crypto space.</a:t>
            </a:r>
          </a:p>
          <a:p>
            <a:endParaRPr lang="en-IN" dirty="0"/>
          </a:p>
        </p:txBody>
      </p:sp>
      <p:sp>
        <p:nvSpPr>
          <p:cNvPr id="25" name="Rectangle 24"/>
          <p:cNvSpPr/>
          <p:nvPr/>
        </p:nvSpPr>
        <p:spPr>
          <a:xfrm>
            <a:off x="415049" y="5186789"/>
            <a:ext cx="2246321" cy="646331"/>
          </a:xfrm>
          <a:prstGeom prst="rect">
            <a:avLst/>
          </a:prstGeom>
        </p:spPr>
        <p:txBody>
          <a:bodyPr wrap="none">
            <a:spAutoFit/>
          </a:bodyPr>
          <a:lstStyle/>
          <a:p>
            <a:pPr algn="ctr"/>
            <a:r>
              <a:rPr lang="en-US" sz="3600" dirty="0"/>
              <a:t>Motivation</a:t>
            </a:r>
          </a:p>
        </p:txBody>
      </p:sp>
      <p:sp>
        <p:nvSpPr>
          <p:cNvPr id="20" name="Rectangle 1">
            <a:extLst>
              <a:ext uri="{FF2B5EF4-FFF2-40B4-BE49-F238E27FC236}">
                <a16:creationId xmlns:a16="http://schemas.microsoft.com/office/drawing/2014/main" id="{A225C668-FAD7-5CAF-7035-746E3EEAC5E0}"/>
              </a:ext>
            </a:extLst>
          </p:cNvPr>
          <p:cNvSpPr>
            <a:spLocks noChangeArrowheads="1"/>
          </p:cNvSpPr>
          <p:nvPr/>
        </p:nvSpPr>
        <p:spPr bwMode="auto">
          <a:xfrm>
            <a:off x="0" y="0"/>
            <a:ext cx="21383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project begins by collecting historical XRP market data, including open, high, low, last price, volume, and change percent. Preprocessing steps involve handling missing values (forward fill and mean imputation), detecting outliers, and performing feature engineering to create variables like </a:t>
            </a:r>
            <a:r>
              <a:rPr kumimoji="0" lang="en-US" altLang="en-US" sz="1000" b="0" i="0" u="none" strike="noStrike" cap="none" normalizeH="0" baseline="0" dirty="0" err="1">
                <a:ln>
                  <a:noFill/>
                </a:ln>
                <a:solidFill>
                  <a:schemeClr val="tx1"/>
                </a:solidFill>
                <a:effectLst/>
                <a:latin typeface="Arial Unicode MS"/>
              </a:rPr>
              <a:t>High_Low_Diff</a:t>
            </a:r>
            <a:r>
              <a:rPr kumimoji="0" lang="en-US" altLang="en-US" sz="1000" b="0" i="0" u="none" strike="noStrike" cap="none" normalizeH="0" baseline="0" dirty="0">
                <a:ln>
                  <a:noFill/>
                </a:ln>
                <a:solidFill>
                  <a:schemeClr val="tx1"/>
                </a:solidFill>
                <a:effectLst/>
              </a:rPr>
              <a:t> and </a:t>
            </a:r>
            <a:r>
              <a:rPr kumimoji="0" lang="en-US" altLang="en-US" sz="1000" b="0" i="0" u="none" strike="noStrike" cap="none" normalizeH="0" baseline="0" dirty="0" err="1">
                <a:ln>
                  <a:noFill/>
                </a:ln>
                <a:solidFill>
                  <a:schemeClr val="tx1"/>
                </a:solidFill>
                <a:effectLst/>
                <a:latin typeface="Arial Unicode MS"/>
              </a:rPr>
              <a:t>Change_Pct_Scaled</a:t>
            </a:r>
            <a:r>
              <a:rPr kumimoji="0" lang="en-US" altLang="en-US" sz="1000" b="0" i="0" u="none" strike="noStrike" cap="none" normalizeH="0" baseline="0" dirty="0">
                <a:ln>
                  <a:noFill/>
                </a:ln>
                <a:solidFill>
                  <a:schemeClr val="tx1"/>
                </a:solidFill>
                <a:effectLst/>
              </a:rPr>
              <a:t>. The data is then standardized using </a:t>
            </a:r>
            <a:r>
              <a:rPr kumimoji="0" lang="en-US" altLang="en-US" sz="1000" b="0" i="0" u="none" strike="noStrike" cap="none" normalizeH="0" baseline="0" dirty="0">
                <a:ln>
                  <a:noFill/>
                </a:ln>
                <a:solidFill>
                  <a:schemeClr val="tx1"/>
                </a:solidFill>
                <a:effectLst/>
                <a:latin typeface="Arial Unicode MS"/>
              </a:rPr>
              <a:t>StandardScaler</a:t>
            </a:r>
            <a:r>
              <a:rPr kumimoji="0" lang="en-US" altLang="en-US" sz="1000" b="0" i="0" u="none" strike="noStrike" cap="none" normalizeH="0" baseline="0" dirty="0">
                <a:ln>
                  <a:noFill/>
                </a:ln>
                <a:solidFill>
                  <a:schemeClr val="tx1"/>
                </a:solidFill>
                <a:effectLst/>
              </a:rPr>
              <a:t> to ensure model efficiency. The dataset is split into training and testing sets using a time-series split to preserve the order of the data.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2">
            <a:extLst>
              <a:ext uri="{FF2B5EF4-FFF2-40B4-BE49-F238E27FC236}">
                <a16:creationId xmlns:a16="http://schemas.microsoft.com/office/drawing/2014/main" id="{6360F581-1C74-716F-E2FE-EFD54BEE1C00}"/>
              </a:ext>
            </a:extLst>
          </p:cNvPr>
          <p:cNvSpPr>
            <a:spLocks noChangeArrowheads="1"/>
          </p:cNvSpPr>
          <p:nvPr/>
        </p:nvSpPr>
        <p:spPr bwMode="auto">
          <a:xfrm>
            <a:off x="152400" y="152400"/>
            <a:ext cx="21383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project begins by collecting historical XRP market data, including open, high, low, last price, volume, and change percent. Preprocessing steps involve handling missing values (forward fill and mean imputation), detecting outliers, and performing feature engineering to create variables like </a:t>
            </a:r>
            <a:r>
              <a:rPr kumimoji="0" lang="en-US" altLang="en-US" sz="1000" b="0" i="0" u="none" strike="noStrike" cap="none" normalizeH="0" baseline="0" dirty="0" err="1">
                <a:ln>
                  <a:noFill/>
                </a:ln>
                <a:solidFill>
                  <a:schemeClr val="tx1"/>
                </a:solidFill>
                <a:effectLst/>
                <a:latin typeface="Arial Unicode MS"/>
              </a:rPr>
              <a:t>High_Low_Diff</a:t>
            </a:r>
            <a:r>
              <a:rPr kumimoji="0" lang="en-US" altLang="en-US" sz="1000" b="0" i="0" u="none" strike="noStrike" cap="none" normalizeH="0" baseline="0" dirty="0">
                <a:ln>
                  <a:noFill/>
                </a:ln>
                <a:solidFill>
                  <a:schemeClr val="tx1"/>
                </a:solidFill>
                <a:effectLst/>
              </a:rPr>
              <a:t> and </a:t>
            </a:r>
            <a:r>
              <a:rPr kumimoji="0" lang="en-US" altLang="en-US" sz="1000" b="0" i="0" u="none" strike="noStrike" cap="none" normalizeH="0" baseline="0" dirty="0" err="1">
                <a:ln>
                  <a:noFill/>
                </a:ln>
                <a:solidFill>
                  <a:schemeClr val="tx1"/>
                </a:solidFill>
                <a:effectLst/>
                <a:latin typeface="Arial Unicode MS"/>
              </a:rPr>
              <a:t>Change_Pct_Scaled</a:t>
            </a:r>
            <a:r>
              <a:rPr kumimoji="0" lang="en-US" altLang="en-US" sz="1000" b="0" i="0" u="none" strike="noStrike" cap="none" normalizeH="0" baseline="0" dirty="0">
                <a:ln>
                  <a:noFill/>
                </a:ln>
                <a:solidFill>
                  <a:schemeClr val="tx1"/>
                </a:solidFill>
                <a:effectLst/>
              </a:rPr>
              <a:t>. The data is then standardized using </a:t>
            </a:r>
            <a:r>
              <a:rPr kumimoji="0" lang="en-US" altLang="en-US" sz="1000" b="0" i="0" u="none" strike="noStrike" cap="none" normalizeH="0" baseline="0" dirty="0">
                <a:ln>
                  <a:noFill/>
                </a:ln>
                <a:solidFill>
                  <a:schemeClr val="tx1"/>
                </a:solidFill>
                <a:effectLst/>
                <a:latin typeface="Arial Unicode MS"/>
              </a:rPr>
              <a:t>StandardScaler</a:t>
            </a:r>
            <a:r>
              <a:rPr kumimoji="0" lang="en-US" altLang="en-US" sz="1000" b="0" i="0" u="none" strike="noStrike" cap="none" normalizeH="0" baseline="0" dirty="0">
                <a:ln>
                  <a:noFill/>
                </a:ln>
                <a:solidFill>
                  <a:schemeClr val="tx1"/>
                </a:solidFill>
                <a:effectLst/>
              </a:rPr>
              <a:t> to ensure model efficiency. The dataset is split into training and testing sets using a time-series split to preserve the order of the data.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 name="Rectangle 3">
            <a:extLst>
              <a:ext uri="{FF2B5EF4-FFF2-40B4-BE49-F238E27FC236}">
                <a16:creationId xmlns:a16="http://schemas.microsoft.com/office/drawing/2014/main" id="{76D70909-C7A8-9407-1D6C-2140C40B1744}"/>
              </a:ext>
            </a:extLst>
          </p:cNvPr>
          <p:cNvSpPr>
            <a:spLocks noChangeArrowheads="1"/>
          </p:cNvSpPr>
          <p:nvPr/>
        </p:nvSpPr>
        <p:spPr bwMode="auto">
          <a:xfrm>
            <a:off x="304800" y="304800"/>
            <a:ext cx="21383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he project begins by collecting historical XRP market data, including open, high, low, last price, volume, and change percent. Preprocessing steps involve handling missing values (forward fill and mean imputation), detecting outliers, and performing feature engineering to create variables like </a:t>
            </a:r>
            <a:r>
              <a:rPr kumimoji="0" lang="en-US" altLang="en-US" sz="1000" b="0" i="0" u="none" strike="noStrike" cap="none" normalizeH="0" baseline="0" dirty="0" err="1">
                <a:ln>
                  <a:noFill/>
                </a:ln>
                <a:solidFill>
                  <a:schemeClr val="tx1"/>
                </a:solidFill>
                <a:effectLst/>
                <a:latin typeface="Arial Unicode MS"/>
              </a:rPr>
              <a:t>High_Low_Diff</a:t>
            </a:r>
            <a:r>
              <a:rPr kumimoji="0" lang="en-US" altLang="en-US" sz="1000" b="0" i="0" u="none" strike="noStrike" cap="none" normalizeH="0" baseline="0" dirty="0">
                <a:ln>
                  <a:noFill/>
                </a:ln>
                <a:solidFill>
                  <a:schemeClr val="tx1"/>
                </a:solidFill>
                <a:effectLst/>
              </a:rPr>
              <a:t> and </a:t>
            </a:r>
            <a:r>
              <a:rPr kumimoji="0" lang="en-US" altLang="en-US" sz="1000" b="0" i="0" u="none" strike="noStrike" cap="none" normalizeH="0" baseline="0" dirty="0" err="1">
                <a:ln>
                  <a:noFill/>
                </a:ln>
                <a:solidFill>
                  <a:schemeClr val="tx1"/>
                </a:solidFill>
                <a:effectLst/>
                <a:latin typeface="Arial Unicode MS"/>
              </a:rPr>
              <a:t>Change_Pct_Scaled</a:t>
            </a:r>
            <a:r>
              <a:rPr kumimoji="0" lang="en-US" altLang="en-US" sz="1000" b="0" i="0" u="none" strike="noStrike" cap="none" normalizeH="0" baseline="0" dirty="0">
                <a:ln>
                  <a:noFill/>
                </a:ln>
                <a:solidFill>
                  <a:schemeClr val="tx1"/>
                </a:solidFill>
                <a:effectLst/>
              </a:rPr>
              <a:t>. The data is then standardized using </a:t>
            </a:r>
            <a:r>
              <a:rPr kumimoji="0" lang="en-US" altLang="en-US" sz="1000" b="0" i="0" u="none" strike="noStrike" cap="none" normalizeH="0" baseline="0" dirty="0">
                <a:ln>
                  <a:noFill/>
                </a:ln>
                <a:solidFill>
                  <a:schemeClr val="tx1"/>
                </a:solidFill>
                <a:effectLst/>
                <a:latin typeface="Arial Unicode MS"/>
              </a:rPr>
              <a:t>StandardScaler</a:t>
            </a:r>
            <a:r>
              <a:rPr kumimoji="0" lang="en-US" altLang="en-US" sz="1000" b="0" i="0" u="none" strike="noStrike" cap="none" normalizeH="0" baseline="0" dirty="0">
                <a:ln>
                  <a:noFill/>
                </a:ln>
                <a:solidFill>
                  <a:schemeClr val="tx1"/>
                </a:solidFill>
                <a:effectLst/>
              </a:rPr>
              <a:t> to ensure model efficiency. The dataset is split into training and testing sets using a time-series split to preserve the order of the data.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2" name="Rectangle 4">
            <a:extLst>
              <a:ext uri="{FF2B5EF4-FFF2-40B4-BE49-F238E27FC236}">
                <a16:creationId xmlns:a16="http://schemas.microsoft.com/office/drawing/2014/main" id="{55D9DFAE-E522-2092-71B8-32DBC01A3E19}"/>
              </a:ext>
            </a:extLst>
          </p:cNvPr>
          <p:cNvSpPr>
            <a:spLocks noChangeArrowheads="1"/>
          </p:cNvSpPr>
          <p:nvPr/>
        </p:nvSpPr>
        <p:spPr bwMode="auto">
          <a:xfrm>
            <a:off x="457200" y="457200"/>
            <a:ext cx="21383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he project begins by collecting historical XRP market data, including open, high, low, last price, volume, and change percent. Preprocessing steps involve handling missing values (forward fill and mean imputation), detecting outliers, and performing feature engineering to create variables like </a:t>
            </a:r>
            <a:r>
              <a:rPr kumimoji="0" lang="en-US" altLang="en-US" sz="1000" b="0" i="0" u="none" strike="noStrike" cap="none" normalizeH="0" baseline="0" dirty="0" err="1">
                <a:ln>
                  <a:noFill/>
                </a:ln>
                <a:solidFill>
                  <a:schemeClr val="tx1"/>
                </a:solidFill>
                <a:effectLst/>
                <a:latin typeface="Arial Unicode MS"/>
              </a:rPr>
              <a:t>High_Low_Diff</a:t>
            </a:r>
            <a:r>
              <a:rPr kumimoji="0" lang="en-US" altLang="en-US" sz="1000" b="0" i="0" u="none" strike="noStrike" cap="none" normalizeH="0" baseline="0" dirty="0">
                <a:ln>
                  <a:noFill/>
                </a:ln>
                <a:solidFill>
                  <a:schemeClr val="tx1"/>
                </a:solidFill>
                <a:effectLst/>
              </a:rPr>
              <a:t> and </a:t>
            </a:r>
            <a:r>
              <a:rPr kumimoji="0" lang="en-US" altLang="en-US" sz="1000" b="0" i="0" u="none" strike="noStrike" cap="none" normalizeH="0" baseline="0" dirty="0" err="1">
                <a:ln>
                  <a:noFill/>
                </a:ln>
                <a:solidFill>
                  <a:schemeClr val="tx1"/>
                </a:solidFill>
                <a:effectLst/>
                <a:latin typeface="Arial Unicode MS"/>
              </a:rPr>
              <a:t>Change_Pct_Scaled</a:t>
            </a:r>
            <a:r>
              <a:rPr kumimoji="0" lang="en-US" altLang="en-US" sz="1000" b="0" i="0" u="none" strike="noStrike" cap="none" normalizeH="0" baseline="0" dirty="0">
                <a:ln>
                  <a:noFill/>
                </a:ln>
                <a:solidFill>
                  <a:schemeClr val="tx1"/>
                </a:solidFill>
                <a:effectLst/>
              </a:rPr>
              <a:t>. The data is then standardized using </a:t>
            </a:r>
            <a:r>
              <a:rPr kumimoji="0" lang="en-US" altLang="en-US" sz="1000" b="0" i="0" u="none" strike="noStrike" cap="none" normalizeH="0" baseline="0" dirty="0">
                <a:ln>
                  <a:noFill/>
                </a:ln>
                <a:solidFill>
                  <a:schemeClr val="tx1"/>
                </a:solidFill>
                <a:effectLst/>
                <a:latin typeface="Arial Unicode MS"/>
              </a:rPr>
              <a:t>StandardScaler</a:t>
            </a:r>
            <a:r>
              <a:rPr kumimoji="0" lang="en-US" altLang="en-US" sz="1000" b="0" i="0" u="none" strike="noStrike" cap="none" normalizeH="0" baseline="0" dirty="0">
                <a:ln>
                  <a:noFill/>
                </a:ln>
                <a:solidFill>
                  <a:schemeClr val="tx1"/>
                </a:solidFill>
                <a:effectLst/>
              </a:rPr>
              <a:t> to ensure model efficiency. The dataset is split into training and testing sets using a time-series split to preserve the order of the data.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3" name="Picture 32">
            <a:extLst>
              <a:ext uri="{FF2B5EF4-FFF2-40B4-BE49-F238E27FC236}">
                <a16:creationId xmlns:a16="http://schemas.microsoft.com/office/drawing/2014/main" id="{602A78E5-9751-A9BA-2382-3F303CFCF113}"/>
              </a:ext>
            </a:extLst>
          </p:cNvPr>
          <p:cNvPicPr>
            <a:picLocks noChangeAspect="1"/>
          </p:cNvPicPr>
          <p:nvPr/>
        </p:nvPicPr>
        <p:blipFill>
          <a:blip r:embed="rId3"/>
          <a:srcRect l="2613"/>
          <a:stretch/>
        </p:blipFill>
        <p:spPr>
          <a:xfrm>
            <a:off x="10850308" y="10725254"/>
            <a:ext cx="6108525" cy="4222646"/>
          </a:xfrm>
          <a:prstGeom prst="rect">
            <a:avLst/>
          </a:prstGeom>
        </p:spPr>
      </p:pic>
      <p:pic>
        <p:nvPicPr>
          <p:cNvPr id="34" name="Picture 33" descr="A diagram of a model&#10;&#10;AI-generated content may be incorrect.">
            <a:extLst>
              <a:ext uri="{FF2B5EF4-FFF2-40B4-BE49-F238E27FC236}">
                <a16:creationId xmlns:a16="http://schemas.microsoft.com/office/drawing/2014/main" id="{A5E5EC57-0AC3-874E-732D-E5F487192C5D}"/>
              </a:ext>
            </a:extLst>
          </p:cNvPr>
          <p:cNvPicPr>
            <a:picLocks noChangeAspect="1"/>
          </p:cNvPicPr>
          <p:nvPr/>
        </p:nvPicPr>
        <p:blipFill>
          <a:blip r:embed="rId4"/>
          <a:stretch>
            <a:fillRect/>
          </a:stretch>
        </p:blipFill>
        <p:spPr>
          <a:xfrm>
            <a:off x="571500" y="23914861"/>
            <a:ext cx="6084320" cy="5256353"/>
          </a:xfrm>
          <a:prstGeom prst="rect">
            <a:avLst/>
          </a:prstGeom>
        </p:spPr>
      </p:pic>
      <p:pic>
        <p:nvPicPr>
          <p:cNvPr id="39" name="Picture 38">
            <a:extLst>
              <a:ext uri="{FF2B5EF4-FFF2-40B4-BE49-F238E27FC236}">
                <a16:creationId xmlns:a16="http://schemas.microsoft.com/office/drawing/2014/main" id="{17AA682F-AB1A-4450-41D1-215FEB70B67E}"/>
              </a:ext>
            </a:extLst>
          </p:cNvPr>
          <p:cNvPicPr>
            <a:picLocks noChangeAspect="1"/>
          </p:cNvPicPr>
          <p:nvPr/>
        </p:nvPicPr>
        <p:blipFill>
          <a:blip r:embed="rId5"/>
          <a:stretch>
            <a:fillRect/>
          </a:stretch>
        </p:blipFill>
        <p:spPr>
          <a:xfrm>
            <a:off x="15168545" y="3894902"/>
            <a:ext cx="5623627" cy="3897664"/>
          </a:xfrm>
          <a:prstGeom prst="rect">
            <a:avLst/>
          </a:prstGeom>
        </p:spPr>
      </p:pic>
      <p:pic>
        <p:nvPicPr>
          <p:cNvPr id="42" name="Picture 41">
            <a:extLst>
              <a:ext uri="{FF2B5EF4-FFF2-40B4-BE49-F238E27FC236}">
                <a16:creationId xmlns:a16="http://schemas.microsoft.com/office/drawing/2014/main" id="{B0587C7F-2C61-1DEC-358A-77C2AA79256F}"/>
              </a:ext>
            </a:extLst>
          </p:cNvPr>
          <p:cNvPicPr>
            <a:picLocks noChangeAspect="1"/>
          </p:cNvPicPr>
          <p:nvPr/>
        </p:nvPicPr>
        <p:blipFill>
          <a:blip r:embed="rId6"/>
          <a:stretch>
            <a:fillRect/>
          </a:stretch>
        </p:blipFill>
        <p:spPr>
          <a:xfrm>
            <a:off x="10770650" y="16206336"/>
            <a:ext cx="10108150" cy="4620328"/>
          </a:xfrm>
          <a:prstGeom prst="rect">
            <a:avLst/>
          </a:prstGeom>
        </p:spPr>
      </p:pic>
      <p:pic>
        <p:nvPicPr>
          <p:cNvPr id="43" name="Picture 42">
            <a:extLst>
              <a:ext uri="{FF2B5EF4-FFF2-40B4-BE49-F238E27FC236}">
                <a16:creationId xmlns:a16="http://schemas.microsoft.com/office/drawing/2014/main" id="{C5E2AD22-33BD-AB37-8C9E-DB6F3160DBA1}"/>
              </a:ext>
            </a:extLst>
          </p:cNvPr>
          <p:cNvPicPr>
            <a:picLocks noChangeAspect="1"/>
          </p:cNvPicPr>
          <p:nvPr/>
        </p:nvPicPr>
        <p:blipFill>
          <a:blip r:embed="rId7"/>
          <a:srcRect l="2530" r="496"/>
          <a:stretch/>
        </p:blipFill>
        <p:spPr>
          <a:xfrm>
            <a:off x="457200" y="12138586"/>
            <a:ext cx="6084320" cy="4105005"/>
          </a:xfrm>
          <a:prstGeom prst="rect">
            <a:avLst/>
          </a:prstGeom>
        </p:spPr>
      </p:pic>
      <p:sp>
        <p:nvSpPr>
          <p:cNvPr id="46" name="Rectangle 45">
            <a:extLst>
              <a:ext uri="{FF2B5EF4-FFF2-40B4-BE49-F238E27FC236}">
                <a16:creationId xmlns:a16="http://schemas.microsoft.com/office/drawing/2014/main" id="{74847C73-A509-9459-B20A-27BF9929B373}"/>
              </a:ext>
            </a:extLst>
          </p:cNvPr>
          <p:cNvSpPr/>
          <p:nvPr/>
        </p:nvSpPr>
        <p:spPr>
          <a:xfrm>
            <a:off x="10691812" y="26007940"/>
            <a:ext cx="2242024" cy="646331"/>
          </a:xfrm>
          <a:prstGeom prst="rect">
            <a:avLst/>
          </a:prstGeom>
        </p:spPr>
        <p:txBody>
          <a:bodyPr wrap="none">
            <a:spAutoFit/>
          </a:bodyPr>
          <a:lstStyle/>
          <a:p>
            <a:pPr algn="ctr"/>
            <a:r>
              <a:rPr lang="en-US" sz="3600" dirty="0"/>
              <a:t>References</a:t>
            </a:r>
          </a:p>
        </p:txBody>
      </p:sp>
      <p:pic>
        <p:nvPicPr>
          <p:cNvPr id="53" name="Picture 52">
            <a:extLst>
              <a:ext uri="{FF2B5EF4-FFF2-40B4-BE49-F238E27FC236}">
                <a16:creationId xmlns:a16="http://schemas.microsoft.com/office/drawing/2014/main" id="{DC76F89E-DBE8-F868-59F8-247FB8A6C083}"/>
              </a:ext>
            </a:extLst>
          </p:cNvPr>
          <p:cNvPicPr>
            <a:picLocks noChangeAspect="1"/>
          </p:cNvPicPr>
          <p:nvPr/>
        </p:nvPicPr>
        <p:blipFill>
          <a:blip r:embed="rId8"/>
          <a:stretch>
            <a:fillRect/>
          </a:stretch>
        </p:blipFill>
        <p:spPr>
          <a:xfrm>
            <a:off x="4322353" y="17993786"/>
            <a:ext cx="6290800" cy="4270742"/>
          </a:xfrm>
          <a:prstGeom prst="rect">
            <a:avLst/>
          </a:prstGeom>
        </p:spPr>
      </p:pic>
    </p:spTree>
    <p:extLst>
      <p:ext uri="{BB962C8B-B14F-4D97-AF65-F5344CB8AC3E}">
        <p14:creationId xmlns:p14="http://schemas.microsoft.com/office/powerpoint/2010/main" val="36060411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ster_2016_m.potx" id="{C99F4834-73B2-44AB-9211-DD57E3EBE727}" vid="{C99B119E-4D31-4661-B76A-37761BBBC0B1}"/>
    </a:ext>
  </a:extLst>
</a:theme>
</file>

<file path=docProps/app.xml><?xml version="1.0" encoding="utf-8"?>
<Properties xmlns="http://schemas.openxmlformats.org/officeDocument/2006/extended-properties" xmlns:vt="http://schemas.openxmlformats.org/officeDocument/2006/docPropsVTypes">
  <Template/>
  <TotalTime>1634</TotalTime>
  <Words>1585</Words>
  <Application>Microsoft Office PowerPoint</Application>
  <PresentationFormat>Custom</PresentationFormat>
  <Paragraphs>26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Arial Unicode MS</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Jayasankar Variyar</dc:creator>
  <cp:lastModifiedBy>Pranavi Ravi</cp:lastModifiedBy>
  <cp:revision>27</cp:revision>
  <dcterms:created xsi:type="dcterms:W3CDTF">2016-03-28T06:32:15Z</dcterms:created>
  <dcterms:modified xsi:type="dcterms:W3CDTF">2025-04-22T08:47:08Z</dcterms:modified>
</cp:coreProperties>
</file>